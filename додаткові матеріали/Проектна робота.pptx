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062D3-F328-4951-86D0-2B86E143516C}" type="datetimeFigureOut">
              <a:rPr lang="uk-UA" smtClean="0"/>
              <a:t>03.11.2025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3BF98-239E-4D67-AC80-79D5DDC2EF7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849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062D3-F328-4951-86D0-2B86E143516C}" type="datetimeFigureOut">
              <a:rPr lang="uk-UA" smtClean="0"/>
              <a:t>03.11.2025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3BF98-239E-4D67-AC80-79D5DDC2EF7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7022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062D3-F328-4951-86D0-2B86E143516C}" type="datetimeFigureOut">
              <a:rPr lang="uk-UA" smtClean="0"/>
              <a:t>03.11.2025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3BF98-239E-4D67-AC80-79D5DDC2EF7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48990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062D3-F328-4951-86D0-2B86E143516C}" type="datetimeFigureOut">
              <a:rPr lang="uk-UA" smtClean="0"/>
              <a:t>03.11.2025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3BF98-239E-4D67-AC80-79D5DDC2EF7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65072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062D3-F328-4951-86D0-2B86E143516C}" type="datetimeFigureOut">
              <a:rPr lang="uk-UA" smtClean="0"/>
              <a:t>03.11.2025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3BF98-239E-4D67-AC80-79D5DDC2EF7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97764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062D3-F328-4951-86D0-2B86E143516C}" type="datetimeFigureOut">
              <a:rPr lang="uk-UA" smtClean="0"/>
              <a:t>03.11.2025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3BF98-239E-4D67-AC80-79D5DDC2EF7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07275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062D3-F328-4951-86D0-2B86E143516C}" type="datetimeFigureOut">
              <a:rPr lang="uk-UA" smtClean="0"/>
              <a:t>03.11.2025</a:t>
            </a:fld>
            <a:endParaRPr lang="uk-U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3BF98-239E-4D67-AC80-79D5DDC2EF7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88655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062D3-F328-4951-86D0-2B86E143516C}" type="datetimeFigureOut">
              <a:rPr lang="uk-UA" smtClean="0"/>
              <a:t>03.11.2025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3BF98-239E-4D67-AC80-79D5DDC2EF7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86733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3BF98-239E-4D67-AC80-79D5DDC2EF74}" type="slidenum">
              <a:rPr lang="uk-UA" smtClean="0"/>
              <a:t>‹№›</a:t>
            </a:fld>
            <a:endParaRPr lang="uk-U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062D3-F328-4951-86D0-2B86E143516C}" type="datetimeFigureOut">
              <a:rPr lang="uk-UA" smtClean="0"/>
              <a:t>03.11.2025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22843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Назва та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062D3-F328-4951-86D0-2B86E143516C}" type="datetimeFigureOut">
              <a:rPr lang="uk-UA" smtClean="0"/>
              <a:t>03.11.2025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3BF98-239E-4D67-AC80-79D5DDC2EF7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75854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062D3-F328-4951-86D0-2B86E143516C}" type="datetimeFigureOut">
              <a:rPr lang="uk-UA" smtClean="0"/>
              <a:t>03.11.2025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3BF98-239E-4D67-AC80-79D5DDC2EF74}" type="slidenum">
              <a:rPr lang="uk-UA" smtClean="0"/>
              <a:t>‹№›</a:t>
            </a:fld>
            <a:endParaRPr lang="uk-UA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231538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ка назв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062D3-F328-4951-86D0-2B86E143516C}" type="datetimeFigureOut">
              <a:rPr lang="uk-UA" smtClean="0"/>
              <a:t>03.11.2025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3BF98-239E-4D67-AC80-79D5DDC2EF7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213566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ка назви цита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062D3-F328-4951-86D0-2B86E143516C}" type="datetimeFigureOut">
              <a:rPr lang="uk-UA" smtClean="0"/>
              <a:t>03.11.2025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3BF98-239E-4D67-AC80-79D5DDC2EF74}" type="slidenum">
              <a:rPr lang="uk-UA" smtClean="0"/>
              <a:t>‹№›</a:t>
            </a:fld>
            <a:endParaRPr lang="uk-UA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697098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Істина/хибніст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062D3-F328-4951-86D0-2B86E143516C}" type="datetimeFigureOut">
              <a:rPr lang="uk-UA" smtClean="0"/>
              <a:t>03.11.2025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3BF98-239E-4D67-AC80-79D5DDC2EF7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050683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062D3-F328-4951-86D0-2B86E143516C}" type="datetimeFigureOut">
              <a:rPr lang="uk-UA" smtClean="0"/>
              <a:t>03.11.2025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3BF98-239E-4D67-AC80-79D5DDC2EF7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949741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062D3-F328-4951-86D0-2B86E143516C}" type="datetimeFigureOut">
              <a:rPr lang="uk-UA" smtClean="0"/>
              <a:t>03.11.2025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3BF98-239E-4D67-AC80-79D5DDC2EF7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96076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5062D3-F328-4951-86D0-2B86E143516C}" type="datetimeFigureOut">
              <a:rPr lang="uk-UA" smtClean="0"/>
              <a:t>03.11.2025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363BF98-239E-4D67-AC80-79D5DDC2EF7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0399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1" r:id="rId12"/>
    <p:sldLayoutId id="2147483742" r:id="rId13"/>
    <p:sldLayoutId id="2147483743" r:id="rId14"/>
    <p:sldLayoutId id="2147483744" r:id="rId15"/>
    <p:sldLayoutId id="214748374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72CA46-76F5-482A-A498-31CB02C6CB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62918" y="276552"/>
            <a:ext cx="3615017" cy="477837"/>
          </a:xfrm>
        </p:spPr>
        <p:txBody>
          <a:bodyPr>
            <a:normAutofit fontScale="90000"/>
          </a:bodyPr>
          <a:lstStyle/>
          <a:p>
            <a:r>
              <a:rPr lang="uk-UA" sz="3200" b="1" dirty="0"/>
              <a:t>Проектна робота</a:t>
            </a:r>
            <a:endParaRPr lang="uk-UA" sz="3200" dirty="0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6708C33E-0939-475A-8235-2C0E20CDA2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396752"/>
            <a:ext cx="4509247" cy="1461247"/>
          </a:xfrm>
        </p:spPr>
        <p:txBody>
          <a:bodyPr/>
          <a:lstStyle/>
          <a:p>
            <a:pPr algn="l"/>
            <a:r>
              <a:rPr lang="uk-UA" dirty="0"/>
              <a:t>Спеціалізація: </a:t>
            </a:r>
            <a:r>
              <a:rPr lang="en-US" b="1" i="0" dirty="0">
                <a:solidFill>
                  <a:srgbClr val="1D2125"/>
                </a:solidFill>
                <a:effectLst/>
                <a:latin typeface="-apple-system"/>
              </a:rPr>
              <a:t>Analytics &amp; Data Engineer</a:t>
            </a:r>
            <a:br>
              <a:rPr lang="en-US" dirty="0"/>
            </a:br>
            <a:r>
              <a:rPr lang="uk-UA" dirty="0"/>
              <a:t>Автор: </a:t>
            </a:r>
            <a:r>
              <a:rPr lang="uk-UA" i="1" dirty="0"/>
              <a:t>Євгенія Тереза</a:t>
            </a:r>
          </a:p>
          <a:p>
            <a:pPr algn="l"/>
            <a:br>
              <a:rPr lang="uk-UA" i="1" dirty="0"/>
            </a:br>
            <a:r>
              <a:rPr lang="uk-UA" dirty="0"/>
              <a:t>• 2025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15DE65-B4A1-47CC-92BA-D40A6F2D690E}"/>
              </a:ext>
            </a:extLst>
          </p:cNvPr>
          <p:cNvSpPr txBox="1"/>
          <p:nvPr/>
        </p:nvSpPr>
        <p:spPr>
          <a:xfrm>
            <a:off x="3218330" y="1600200"/>
            <a:ext cx="730847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Tourism &amp; Weather Analytics</a:t>
            </a:r>
            <a:endParaRPr lang="uk-UA" sz="4000" dirty="0"/>
          </a:p>
        </p:txBody>
      </p:sp>
    </p:spTree>
    <p:extLst>
      <p:ext uri="{BB962C8B-B14F-4D97-AF65-F5344CB8AC3E}">
        <p14:creationId xmlns:p14="http://schemas.microsoft.com/office/powerpoint/2010/main" val="3411158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86D9F6-AC72-4C96-A7DF-4075F900A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3195918" cy="585133"/>
          </a:xfrm>
        </p:spPr>
        <p:txBody>
          <a:bodyPr>
            <a:normAutofit/>
          </a:bodyPr>
          <a:lstStyle/>
          <a:p>
            <a:r>
              <a:rPr lang="uk-UA" sz="3200" b="1" dirty="0"/>
              <a:t>Мета проекту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D8F521C8-592F-4BC3-97E9-BDEB074241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uk-UA" dirty="0"/>
              <a:t>Продемонструвати створення </a:t>
            </a:r>
            <a:r>
              <a:rPr lang="en-US" dirty="0"/>
              <a:t>data pipeline </a:t>
            </a:r>
            <a:r>
              <a:rPr lang="uk-UA" dirty="0"/>
              <a:t>для аналітики туризму та погоди, що охоплює весь цикл:</a:t>
            </a:r>
            <a:br>
              <a:rPr lang="uk-UA" dirty="0"/>
            </a:br>
            <a:r>
              <a:rPr lang="uk-UA" dirty="0"/>
              <a:t>→ Збір даних із </a:t>
            </a:r>
            <a:r>
              <a:rPr lang="en-US" dirty="0"/>
              <a:t>API </a:t>
            </a:r>
            <a:r>
              <a:rPr lang="uk-UA" dirty="0"/>
              <a:t>та </a:t>
            </a:r>
            <a:r>
              <a:rPr lang="en-US" dirty="0"/>
              <a:t>CSV</a:t>
            </a:r>
            <a:br>
              <a:rPr lang="en-US" dirty="0"/>
            </a:br>
            <a:r>
              <a:rPr lang="en-US" dirty="0"/>
              <a:t>→ </a:t>
            </a:r>
            <a:r>
              <a:rPr lang="uk-UA" dirty="0"/>
              <a:t>Обробка </a:t>
            </a:r>
            <a:r>
              <a:rPr lang="en-US" dirty="0" err="1"/>
              <a:t>PySpark</a:t>
            </a:r>
            <a:br>
              <a:rPr lang="en-US" dirty="0"/>
            </a:br>
            <a:r>
              <a:rPr lang="en-US" dirty="0"/>
              <a:t>→ </a:t>
            </a:r>
            <a:r>
              <a:rPr lang="uk-UA" dirty="0"/>
              <a:t>Моделювання </a:t>
            </a:r>
            <a:r>
              <a:rPr lang="en-US" dirty="0" err="1"/>
              <a:t>dbt</a:t>
            </a:r>
            <a:br>
              <a:rPr lang="en-US" dirty="0"/>
            </a:br>
            <a:r>
              <a:rPr lang="en-US" dirty="0"/>
              <a:t>→ </a:t>
            </a:r>
            <a:r>
              <a:rPr lang="uk-UA" dirty="0" err="1"/>
              <a:t>Оркестрація</a:t>
            </a:r>
            <a:r>
              <a:rPr lang="uk-UA" dirty="0"/>
              <a:t> </a:t>
            </a:r>
            <a:r>
              <a:rPr lang="en-US" dirty="0"/>
              <a:t>Airflow</a:t>
            </a:r>
            <a:br>
              <a:rPr lang="en-US" dirty="0"/>
            </a:br>
            <a:r>
              <a:rPr lang="en-US" dirty="0"/>
              <a:t>→ </a:t>
            </a:r>
            <a:r>
              <a:rPr lang="uk-UA" dirty="0"/>
              <a:t>Візуалізація в </a:t>
            </a:r>
            <a:r>
              <a:rPr lang="en-US" dirty="0"/>
              <a:t>Power BI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955616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B5BF34-EB8D-4C4E-9338-32A98B0CF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sz="3200" b="1" dirty="0"/>
              <a:t>Використані технології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BFBD5D1-257E-4C82-BA31-7EE690214B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uk-UA" dirty="0"/>
              <a:t>• </a:t>
            </a:r>
            <a:r>
              <a:rPr lang="en-US" b="1" dirty="0"/>
              <a:t>Python / </a:t>
            </a:r>
            <a:r>
              <a:rPr lang="en-US" b="1" dirty="0" err="1"/>
              <a:t>PySpark</a:t>
            </a:r>
            <a:r>
              <a:rPr lang="en-US" dirty="0"/>
              <a:t> — </a:t>
            </a:r>
            <a:r>
              <a:rPr lang="uk-UA" dirty="0"/>
              <a:t>очищення, трансформація, агрегація</a:t>
            </a:r>
            <a:br>
              <a:rPr lang="uk-UA" dirty="0"/>
            </a:br>
            <a:r>
              <a:rPr lang="uk-UA" dirty="0"/>
              <a:t>• </a:t>
            </a:r>
            <a:r>
              <a:rPr lang="en-US" b="1" dirty="0"/>
              <a:t>PostgreSQL (DWH)</a:t>
            </a:r>
            <a:r>
              <a:rPr lang="en-US" dirty="0"/>
              <a:t> — </a:t>
            </a:r>
            <a:r>
              <a:rPr lang="uk-UA" dirty="0"/>
              <a:t>зберігання даних ( </a:t>
            </a:r>
            <a:r>
              <a:rPr lang="en-US" dirty="0"/>
              <a:t>Kimball schema )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 err="1"/>
              <a:t>dbt</a:t>
            </a:r>
            <a:r>
              <a:rPr lang="en-US" dirty="0"/>
              <a:t> — </a:t>
            </a:r>
            <a:r>
              <a:rPr lang="uk-UA" dirty="0"/>
              <a:t>моделювання (</a:t>
            </a:r>
            <a:r>
              <a:rPr lang="en-US" dirty="0"/>
              <a:t>bronze → silver → gold marts)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Apache Airflow</a:t>
            </a:r>
            <a:r>
              <a:rPr lang="en-US" dirty="0"/>
              <a:t> — </a:t>
            </a:r>
            <a:r>
              <a:rPr lang="uk-UA" dirty="0" err="1"/>
              <a:t>оркестрація</a:t>
            </a:r>
            <a:r>
              <a:rPr lang="uk-UA" dirty="0"/>
              <a:t> </a:t>
            </a:r>
            <a:r>
              <a:rPr lang="en-US" dirty="0"/>
              <a:t>DAG</a:t>
            </a:r>
            <a:r>
              <a:rPr lang="uk-UA" dirty="0" err="1"/>
              <a:t>ів</a:t>
            </a:r>
            <a:br>
              <a:rPr lang="uk-UA" dirty="0"/>
            </a:br>
            <a:r>
              <a:rPr lang="uk-UA" dirty="0"/>
              <a:t>• </a:t>
            </a:r>
            <a:r>
              <a:rPr lang="en-US" b="1" dirty="0"/>
              <a:t>Power BI</a:t>
            </a:r>
            <a:r>
              <a:rPr lang="en-US" dirty="0"/>
              <a:t> — </a:t>
            </a:r>
            <a:r>
              <a:rPr lang="uk-UA" dirty="0"/>
              <a:t>аналітика та </a:t>
            </a:r>
            <a:r>
              <a:rPr lang="uk-UA" dirty="0" err="1"/>
              <a:t>дашборди</a:t>
            </a:r>
            <a:br>
              <a:rPr lang="uk-UA" dirty="0"/>
            </a:br>
            <a:r>
              <a:rPr lang="uk-UA" dirty="0"/>
              <a:t>• </a:t>
            </a:r>
            <a:r>
              <a:rPr lang="en-US" b="1" dirty="0"/>
              <a:t>Weather API + Tourism CSV</a:t>
            </a:r>
            <a:r>
              <a:rPr lang="en-US" dirty="0"/>
              <a:t> — </a:t>
            </a:r>
            <a:r>
              <a:rPr lang="uk-UA" dirty="0"/>
              <a:t>джерела даних</a:t>
            </a:r>
          </a:p>
        </p:txBody>
      </p:sp>
    </p:spTree>
    <p:extLst>
      <p:ext uri="{BB962C8B-B14F-4D97-AF65-F5344CB8AC3E}">
        <p14:creationId xmlns:p14="http://schemas.microsoft.com/office/powerpoint/2010/main" val="2265390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62CB2B-8649-4C03-A30C-87B0CB8FE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sz="3200" b="1" dirty="0"/>
              <a:t>Архітектура </a:t>
            </a:r>
            <a:r>
              <a:rPr lang="en-US" sz="3200" b="1" dirty="0"/>
              <a:t>pipeline</a:t>
            </a:r>
            <a:endParaRPr lang="uk-UA" sz="3200" b="1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7708A869-7D81-49D4-82C5-5560E93C42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→ API → Postgres → </a:t>
            </a:r>
            <a:br>
              <a:rPr lang="uk-UA" sz="2000" dirty="0"/>
            </a:br>
            <a:r>
              <a:rPr lang="en-US" sz="2000" dirty="0"/>
              <a:t>→ </a:t>
            </a:r>
            <a:r>
              <a:rPr lang="en-US" sz="2000" dirty="0" err="1"/>
              <a:t>PySpark</a:t>
            </a:r>
            <a:r>
              <a:rPr lang="en-US" sz="2000" dirty="0"/>
              <a:t> → </a:t>
            </a:r>
            <a:br>
              <a:rPr lang="uk-UA" sz="2000" dirty="0"/>
            </a:br>
            <a:r>
              <a:rPr lang="en-US" sz="2000" dirty="0"/>
              <a:t>→ DWH → </a:t>
            </a:r>
            <a:br>
              <a:rPr lang="uk-UA" sz="2000" dirty="0"/>
            </a:br>
            <a:r>
              <a:rPr lang="en-US" sz="2000" dirty="0"/>
              <a:t>→ </a:t>
            </a:r>
            <a:r>
              <a:rPr lang="en-US" sz="2000" dirty="0" err="1"/>
              <a:t>dbt</a:t>
            </a:r>
            <a:r>
              <a:rPr lang="en-US" sz="2000" dirty="0"/>
              <a:t> → Power BI</a:t>
            </a:r>
            <a:endParaRPr lang="uk-UA" sz="2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7F90584-791C-4767-A617-745C7F5213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1718" y="1690688"/>
            <a:ext cx="7270376" cy="5012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104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B4C5C0-A484-4812-945D-BB17B8D65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sz="3200" b="1" dirty="0"/>
              <a:t>Джерела даних</a:t>
            </a:r>
          </a:p>
        </p:txBody>
      </p:sp>
      <p:graphicFrame>
        <p:nvGraphicFramePr>
          <p:cNvPr id="4" name="Місце для вмісту 3">
            <a:extLst>
              <a:ext uri="{FF2B5EF4-FFF2-40B4-BE49-F238E27FC236}">
                <a16:creationId xmlns:a16="http://schemas.microsoft.com/office/drawing/2014/main" id="{E72B1E04-85C0-422A-86EF-2FF6CF7A5F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546422"/>
              </p:ext>
            </p:extLst>
          </p:nvPr>
        </p:nvGraphicFramePr>
        <p:xfrm>
          <a:off x="279401" y="1930400"/>
          <a:ext cx="9372600" cy="2489200"/>
        </p:xfrm>
        <a:graphic>
          <a:graphicData uri="http://schemas.openxmlformats.org/drawingml/2006/table">
            <a:tbl>
              <a:tblPr/>
              <a:tblGrid>
                <a:gridCol w="1915159">
                  <a:extLst>
                    <a:ext uri="{9D8B030D-6E8A-4147-A177-3AD203B41FA5}">
                      <a16:colId xmlns:a16="http://schemas.microsoft.com/office/drawing/2014/main" val="3376045749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1559525245"/>
                    </a:ext>
                  </a:extLst>
                </a:gridCol>
                <a:gridCol w="1076960">
                  <a:extLst>
                    <a:ext uri="{9D8B030D-6E8A-4147-A177-3AD203B41FA5}">
                      <a16:colId xmlns:a16="http://schemas.microsoft.com/office/drawing/2014/main" val="381542505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448509338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868141772"/>
                    </a:ext>
                  </a:extLst>
                </a:gridCol>
                <a:gridCol w="2997201">
                  <a:extLst>
                    <a:ext uri="{9D8B030D-6E8A-4147-A177-3AD203B41FA5}">
                      <a16:colId xmlns:a16="http://schemas.microsoft.com/office/drawing/2014/main" val="2799309725"/>
                    </a:ext>
                  </a:extLst>
                </a:gridCol>
              </a:tblGrid>
              <a:tr h="398272">
                <a:tc>
                  <a:txBody>
                    <a:bodyPr/>
                    <a:lstStyle/>
                    <a:p>
                      <a:r>
                        <a:rPr lang="uk-UA"/>
                        <a:t>Джерело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uk-UA"/>
                        <a:t>Тип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uk-UA"/>
                        <a:t>Формат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uk-UA"/>
                        <a:t>Обсяг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uk-UA"/>
                        <a:t>Частота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uk-UA"/>
                        <a:t>Опис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3775136"/>
                  </a:ext>
                </a:extLst>
              </a:tr>
              <a:tr h="696976">
                <a:tc>
                  <a:txBody>
                    <a:bodyPr/>
                    <a:lstStyle/>
                    <a:p>
                      <a:r>
                        <a:rPr lang="en-US" dirty="0"/>
                        <a:t>Open-</a:t>
                      </a:r>
                      <a:r>
                        <a:rPr lang="en-US" dirty="0" err="1"/>
                        <a:t>Meteo</a:t>
                      </a:r>
                      <a:r>
                        <a:rPr lang="en-US" dirty="0"/>
                        <a:t> API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REST API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JSON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uk-UA"/>
                        <a:t>60 000+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uk-UA"/>
                        <a:t>щодня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/>
                        <a:t>метео дані (температура, вітер, опади)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543570"/>
                  </a:ext>
                </a:extLst>
              </a:tr>
              <a:tr h="995680">
                <a:tc>
                  <a:txBody>
                    <a:bodyPr/>
                    <a:lstStyle/>
                    <a:p>
                      <a:r>
                        <a:rPr lang="en-US"/>
                        <a:t>Tourism data (</a:t>
                      </a:r>
                      <a:r>
                        <a:rPr lang="uk-UA"/>
                        <a:t>Держстат </a:t>
                      </a:r>
                      <a:r>
                        <a:rPr lang="en-US"/>
                        <a:t>CSV)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CSV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uk-UA"/>
                        <a:t>Файл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uk-UA" dirty="0"/>
                        <a:t>100+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uk-UA" dirty="0"/>
                        <a:t>щомісяця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uk-UA" dirty="0"/>
                        <a:t>кількість туристів по регіону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553955"/>
                  </a:ext>
                </a:extLst>
              </a:tr>
              <a:tr h="39827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uk-UA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uk-UA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7370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6858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B72EE2-F40E-486F-9CF5-A6E59F94F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DWH / </a:t>
            </a:r>
            <a:r>
              <a:rPr lang="en-US" sz="3200" b="1" dirty="0" err="1"/>
              <a:t>dbt</a:t>
            </a:r>
            <a:r>
              <a:rPr lang="en-US" sz="3200" b="1" dirty="0"/>
              <a:t> </a:t>
            </a:r>
            <a:r>
              <a:rPr lang="uk-UA" sz="3200" b="1" dirty="0"/>
              <a:t>моделі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8F7EC2BB-0FFE-4BBE-A158-0C97F65C3D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99720" y="1444113"/>
            <a:ext cx="6118412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• 3 рівні: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staging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/ </a:t>
            </a:r>
            <a:r>
              <a:rPr lang="uk-UA" dirty="0" err="1">
                <a:solidFill>
                  <a:schemeClr val="tx1"/>
                </a:solidFill>
                <a:latin typeface="+mj-lt"/>
              </a:rPr>
              <a:t>intermediate</a:t>
            </a:r>
            <a:r>
              <a:rPr lang="uk-UA" altLang="uk-UA" dirty="0">
                <a:solidFill>
                  <a:schemeClr val="tx1"/>
                </a:solidFill>
                <a:latin typeface="+mj-lt"/>
              </a:rPr>
              <a:t> / </a:t>
            </a:r>
            <a:r>
              <a:rPr lang="uk-UA" altLang="uk-UA" dirty="0" err="1">
                <a:solidFill>
                  <a:schemeClr val="tx1"/>
                </a:solidFill>
                <a:latin typeface="+mj-lt"/>
              </a:rPr>
              <a:t>marts</a:t>
            </a:r>
            <a:br>
              <a:rPr lang="uk-UA" altLang="uk-UA" dirty="0">
                <a:solidFill>
                  <a:schemeClr val="tx1"/>
                </a:solidFill>
                <a:latin typeface="+mj-lt"/>
              </a:rPr>
            </a:br>
            <a:b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•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Star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Schema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</a:t>
            </a:r>
            <a:b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–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Fact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tables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</a:t>
            </a:r>
            <a:b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	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fact_weather_daily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</a:t>
            </a:r>
            <a:b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	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fact_tourism_weather</a:t>
            </a:r>
            <a:b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–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Dimension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tables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</a:t>
            </a:r>
            <a:b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	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dim_date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</a:t>
            </a:r>
            <a:b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	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dim_region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</a:t>
            </a:r>
            <a:b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	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dim_season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</a:t>
            </a:r>
            <a:b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	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dim_weather_bins</a:t>
            </a:r>
            <a:b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b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• Тести та документація через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dbt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docs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12458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DDD7304-AF27-4662-933A-8F554B2F8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2447" y="1148803"/>
            <a:ext cx="5581226" cy="390751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993B2C-3EB1-4418-9C1E-8040F6DFD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87680"/>
            <a:ext cx="8596668" cy="721360"/>
          </a:xfrm>
        </p:spPr>
        <p:txBody>
          <a:bodyPr>
            <a:normAutofit/>
          </a:bodyPr>
          <a:lstStyle/>
          <a:p>
            <a:r>
              <a:rPr lang="uk-UA" sz="3200" b="1" dirty="0" err="1"/>
              <a:t>Оркестрація</a:t>
            </a:r>
            <a:r>
              <a:rPr lang="uk-UA" sz="3200" b="1" dirty="0"/>
              <a:t> </a:t>
            </a:r>
            <a:r>
              <a:rPr lang="en-US" sz="3200" b="1" dirty="0"/>
              <a:t>Airflow</a:t>
            </a:r>
            <a:endParaRPr lang="uk-UA" sz="32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D6AFFB3-0677-4235-8FE2-130EE70A94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79867" y="1148803"/>
            <a:ext cx="4580100" cy="294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6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DAGів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ingest_tourism_monthly</a:t>
            </a:r>
            <a:endParaRPr kumimoji="0" lang="uk-UA" altLang="uk-UA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ingest_weather_daily</a:t>
            </a:r>
            <a:endParaRPr kumimoji="0" lang="uk-UA" altLang="uk-UA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spark_transform_daily</a:t>
            </a:r>
            <a:endParaRPr kumimoji="0" lang="uk-UA" altLang="uk-UA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dbt_warehouse_build</a:t>
            </a:r>
            <a:endParaRPr kumimoji="0" lang="uk-UA" altLang="uk-UA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tourism_weather_pipeline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оркестратор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_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check_pg_conn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healthcheck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)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9148392-AA0D-4837-8CCB-069136DD6D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2841" y="4274955"/>
            <a:ext cx="3137686" cy="258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326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253060-ACDE-4E7F-B36C-D7347D2AF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99440"/>
          </a:xfrm>
        </p:spPr>
        <p:txBody>
          <a:bodyPr>
            <a:normAutofit/>
          </a:bodyPr>
          <a:lstStyle/>
          <a:p>
            <a:r>
              <a:rPr lang="en-US" sz="3200" b="1" dirty="0"/>
              <a:t>Power BI Dashboard</a:t>
            </a:r>
            <a:endParaRPr lang="uk-UA" sz="3200" b="1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716684C-545A-4CA4-8A8B-7F23323BA5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13840"/>
            <a:ext cx="8596668" cy="534415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• KPI:</a:t>
            </a:r>
            <a:r>
              <a:rPr kumimoji="0" lang="ru-RU" altLang="uk-UA" sz="1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inherit"/>
              </a:rPr>
              <a:t> </a:t>
            </a:r>
            <a:r>
              <a:rPr kumimoji="0" lang="ru-RU" altLang="uk-UA" sz="1800" b="0" i="0" u="none" strike="noStrike" cap="none" normalizeH="0" baseline="0" dirty="0" err="1">
                <a:ln>
                  <a:noFill/>
                </a:ln>
                <a:solidFill>
                  <a:srgbClr val="1F1F1F"/>
                </a:solidFill>
                <a:effectLst/>
                <a:latin typeface="inherit"/>
              </a:rPr>
              <a:t>Середня</a:t>
            </a:r>
            <a:r>
              <a:rPr kumimoji="0" lang="ru-RU" altLang="uk-UA" sz="1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inherit"/>
              </a:rPr>
              <a:t> температура(</a:t>
            </a:r>
            <a:r>
              <a:rPr lang="en-US" dirty="0"/>
              <a:t> Avg Temp</a:t>
            </a:r>
            <a:r>
              <a:rPr lang="uk-UA" dirty="0"/>
              <a:t>)</a:t>
            </a:r>
            <a:r>
              <a:rPr lang="en-US" dirty="0"/>
              <a:t>,</a:t>
            </a:r>
            <a:br>
              <a:rPr lang="uk-UA" dirty="0"/>
            </a:br>
            <a:r>
              <a:rPr lang="uk-UA" dirty="0"/>
              <a:t>	  </a:t>
            </a:r>
            <a:r>
              <a:rPr lang="en-US" dirty="0"/>
              <a:t> </a:t>
            </a:r>
            <a:r>
              <a:rPr kumimoji="0" lang="ru-RU" altLang="uk-UA" sz="1800" b="0" i="0" u="none" strike="noStrike" cap="none" normalizeH="0" baseline="0" dirty="0" err="1">
                <a:ln>
                  <a:noFill/>
                </a:ln>
                <a:solidFill>
                  <a:srgbClr val="1F1F1F"/>
                </a:solidFill>
                <a:effectLst/>
                <a:latin typeface="inherit"/>
              </a:rPr>
              <a:t>Середня</a:t>
            </a:r>
            <a:r>
              <a:rPr kumimoji="0" lang="ru-RU" altLang="uk-UA" sz="1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inherit"/>
              </a:rPr>
              <a:t> </a:t>
            </a:r>
            <a:r>
              <a:rPr kumimoji="0" lang="ru-RU" altLang="uk-UA" sz="1800" b="0" i="0" u="none" strike="noStrike" cap="none" normalizeH="0" baseline="0" dirty="0" err="1">
                <a:ln>
                  <a:noFill/>
                </a:ln>
                <a:solidFill>
                  <a:srgbClr val="1F1F1F"/>
                </a:solidFill>
                <a:effectLst/>
                <a:latin typeface="inherit"/>
              </a:rPr>
              <a:t>швидкість</a:t>
            </a:r>
            <a:r>
              <a:rPr kumimoji="0" lang="ru-RU" altLang="uk-UA" sz="1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inherit"/>
              </a:rPr>
              <a:t> </a:t>
            </a:r>
            <a:r>
              <a:rPr kumimoji="0" lang="ru-RU" altLang="uk-UA" sz="1800" b="0" i="0" u="none" strike="noStrike" cap="none" normalizeH="0" baseline="0" dirty="0" err="1">
                <a:ln>
                  <a:noFill/>
                </a:ln>
                <a:solidFill>
                  <a:srgbClr val="1F1F1F"/>
                </a:solidFill>
                <a:effectLst/>
                <a:latin typeface="inherit"/>
              </a:rPr>
              <a:t>вітру</a:t>
            </a:r>
            <a:r>
              <a:rPr kumimoji="0" lang="ru-RU" altLang="uk-UA" sz="1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inherit"/>
              </a:rPr>
              <a:t> (</a:t>
            </a:r>
            <a:r>
              <a:rPr lang="en-US" dirty="0"/>
              <a:t>Avg Wind</a:t>
            </a:r>
            <a:r>
              <a:rPr lang="uk-UA" dirty="0"/>
              <a:t>)</a:t>
            </a:r>
            <a:r>
              <a:rPr lang="en-US" dirty="0"/>
              <a:t>, </a:t>
            </a:r>
            <a:br>
              <a:rPr lang="uk-UA" dirty="0"/>
            </a:br>
            <a:r>
              <a:rPr lang="uk-UA" dirty="0"/>
              <a:t>	   </a:t>
            </a:r>
            <a:r>
              <a:rPr kumimoji="0" lang="ru-RU" altLang="uk-UA" sz="1800" b="0" i="0" u="none" strike="noStrike" cap="none" normalizeH="0" baseline="0" dirty="0" err="1">
                <a:ln>
                  <a:noFill/>
                </a:ln>
                <a:solidFill>
                  <a:srgbClr val="1F1F1F"/>
                </a:solidFill>
                <a:effectLst/>
                <a:latin typeface="inherit"/>
              </a:rPr>
              <a:t>Кількість</a:t>
            </a:r>
            <a:r>
              <a:rPr kumimoji="0" lang="ru-RU" altLang="uk-UA" sz="1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inherit"/>
              </a:rPr>
              <a:t> </a:t>
            </a:r>
            <a:r>
              <a:rPr kumimoji="0" lang="ru-RU" altLang="uk-UA" sz="1800" b="0" i="0" u="none" strike="noStrike" cap="none" normalizeH="0" baseline="0" dirty="0" err="1">
                <a:ln>
                  <a:noFill/>
                </a:ln>
                <a:solidFill>
                  <a:srgbClr val="1F1F1F"/>
                </a:solidFill>
                <a:effectLst/>
                <a:latin typeface="inherit"/>
              </a:rPr>
              <a:t>днів</a:t>
            </a:r>
            <a:r>
              <a:rPr kumimoji="0" lang="ru-RU" altLang="uk-UA" sz="1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inherit"/>
              </a:rPr>
              <a:t> з </a:t>
            </a:r>
            <a:r>
              <a:rPr kumimoji="0" lang="ru-RU" altLang="uk-UA" sz="1800" b="0" i="0" u="none" strike="noStrike" cap="none" normalizeH="0" baseline="0" dirty="0" err="1">
                <a:ln>
                  <a:noFill/>
                </a:ln>
                <a:solidFill>
                  <a:srgbClr val="1F1F1F"/>
                </a:solidFill>
                <a:effectLst/>
                <a:latin typeface="inherit"/>
              </a:rPr>
              <a:t>дощем</a:t>
            </a:r>
            <a:r>
              <a:rPr kumimoji="0" lang="ru-RU" altLang="uk-UA" sz="1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inherit"/>
              </a:rPr>
              <a:t> (</a:t>
            </a:r>
            <a:r>
              <a:rPr lang="en-US" dirty="0"/>
              <a:t>Days with Rain</a:t>
            </a:r>
            <a:r>
              <a:rPr lang="uk-UA" dirty="0"/>
              <a:t>)</a:t>
            </a:r>
            <a:r>
              <a:rPr lang="en-US" dirty="0"/>
              <a:t>, </a:t>
            </a:r>
            <a:br>
              <a:rPr lang="uk-UA" dirty="0"/>
            </a:br>
            <a:r>
              <a:rPr lang="uk-UA" dirty="0"/>
              <a:t>	   Загальна кількість туристів (</a:t>
            </a:r>
            <a:r>
              <a:rPr lang="en-US" dirty="0"/>
              <a:t>Tourists Total</a:t>
            </a:r>
            <a:r>
              <a:rPr lang="uk-UA" dirty="0"/>
              <a:t>)</a:t>
            </a:r>
            <a:r>
              <a:rPr lang="en-US" dirty="0"/>
              <a:t>, </a:t>
            </a:r>
            <a:br>
              <a:rPr lang="uk-UA" dirty="0"/>
            </a:br>
            <a:r>
              <a:rPr lang="uk-UA" dirty="0"/>
              <a:t>	   Відсоток жінок від загальної кількості (</a:t>
            </a:r>
            <a:r>
              <a:rPr lang="en-US" dirty="0"/>
              <a:t>Women Share %</a:t>
            </a:r>
            <a:r>
              <a:rPr lang="uk-UA" dirty="0"/>
              <a:t>)</a:t>
            </a:r>
            <a:br>
              <a:rPr lang="en-US" dirty="0"/>
            </a:br>
            <a:r>
              <a:rPr lang="en-US" dirty="0"/>
              <a:t>• YoY </a:t>
            </a:r>
            <a:r>
              <a:rPr lang="uk-UA" dirty="0"/>
              <a:t>аналіз</a:t>
            </a:r>
            <a:br>
              <a:rPr lang="uk-UA" dirty="0"/>
            </a:br>
            <a:endParaRPr lang="uk-UA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B2ADD5D1-8EB9-4EAD-B1EB-AD891D94B0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uk-UA" sz="21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inherit"/>
              </a:rPr>
              <a:t>KPI: средняя температура, средний ветер, количество дней с дождем, общее количество туристов, доля женщин в % • Годовой анализ • </a:t>
            </a:r>
            <a:endParaRPr kumimoji="0" lang="ru-RU" altLang="uk-U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A2A0BFD-56ED-4016-B272-B10CB5BC0B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3559813"/>
            <a:ext cx="7579316" cy="329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1232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371C93-7F31-4F5F-9219-F9E34B092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sz="3200" b="1" dirty="0"/>
              <a:t>Результати та висновки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3D20E6E-67EB-4501-862C-1E32BBBD2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uk-UA" dirty="0"/>
              <a:t>✅ Повний </a:t>
            </a:r>
            <a:r>
              <a:rPr lang="en-US" dirty="0"/>
              <a:t>ETL → DWH → BI </a:t>
            </a:r>
            <a:r>
              <a:rPr lang="uk-UA" dirty="0"/>
              <a:t>цикл</a:t>
            </a:r>
            <a:br>
              <a:rPr lang="uk-UA" dirty="0"/>
            </a:br>
            <a:r>
              <a:rPr lang="uk-UA" dirty="0"/>
              <a:t>✅ Забезпечена якість та автоматизація даних</a:t>
            </a:r>
            <a:br>
              <a:rPr lang="uk-UA" dirty="0"/>
            </a:br>
            <a:r>
              <a:rPr lang="uk-UA" dirty="0"/>
              <a:t>✅ Архітектура масштабується для інших міст</a:t>
            </a:r>
            <a:br>
              <a:rPr lang="uk-UA" dirty="0"/>
            </a:br>
            <a:r>
              <a:rPr lang="uk-UA" dirty="0"/>
              <a:t>📊 Реалізовано аналітику впливу погоди на туризм (2020–2025 рр.)</a:t>
            </a:r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102060181"/>
      </p:ext>
    </p:extLst>
  </p:cSld>
  <p:clrMapOvr>
    <a:masterClrMapping/>
  </p:clrMapOvr>
</p:sld>
</file>

<file path=ppt/theme/theme1.xml><?xml version="1.0" encoding="utf-8"?>
<a:theme xmlns:a="http://schemas.openxmlformats.org/drawingml/2006/main" name="Грань">
  <a:themeElements>
    <a:clrScheme name="Теплий синій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Грань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Грань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75</TotalTime>
  <Words>437</Words>
  <Application>Microsoft Office PowerPoint</Application>
  <PresentationFormat>Широкий екран</PresentationFormat>
  <Paragraphs>44</Paragraphs>
  <Slides>9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9</vt:i4>
      </vt:variant>
    </vt:vector>
  </HeadingPairs>
  <TitlesOfParts>
    <vt:vector size="15" baseType="lpstr">
      <vt:lpstr>-apple-system</vt:lpstr>
      <vt:lpstr>Arial</vt:lpstr>
      <vt:lpstr>inherit</vt:lpstr>
      <vt:lpstr>Trebuchet MS</vt:lpstr>
      <vt:lpstr>Wingdings 3</vt:lpstr>
      <vt:lpstr>Грань</vt:lpstr>
      <vt:lpstr>Проектна робота</vt:lpstr>
      <vt:lpstr>Мета проекту</vt:lpstr>
      <vt:lpstr>Використані технології</vt:lpstr>
      <vt:lpstr>Архітектура pipeline</vt:lpstr>
      <vt:lpstr>Джерела даних</vt:lpstr>
      <vt:lpstr>DWH / dbt моделі</vt:lpstr>
      <vt:lpstr>Оркестрація Airflow</vt:lpstr>
      <vt:lpstr>Power BI Dashboard</vt:lpstr>
      <vt:lpstr>Результати та висновки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Проектна робота</dc:title>
  <dc:creator>Tereza</dc:creator>
  <cp:lastModifiedBy>Tereza</cp:lastModifiedBy>
  <cp:revision>8</cp:revision>
  <dcterms:created xsi:type="dcterms:W3CDTF">2025-11-02T18:40:10Z</dcterms:created>
  <dcterms:modified xsi:type="dcterms:W3CDTF">2025-11-03T06:36:49Z</dcterms:modified>
</cp:coreProperties>
</file>